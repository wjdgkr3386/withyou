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F77BBAD0-2FD1-4BB3-BED5-B7D4590D3504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TxStyle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TxStyle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accent3"/>
      </a:tcTxStyle>
      <a:tcStyle>
        <a:tcBdr>
          <a:top>
            <a:ln w="6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accent3">
          <a:shade val="40000"/>
        </a:schemeClr>
      </a:tcTxStyle>
      <a:tcStyle>
        <a:tcBdr/>
        <a:fill>
          <a:solidFill>
            <a:schemeClr val="accent3">
              <a:alpha val="40000"/>
            </a:schemeClr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8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presProps" Target="presProps.xml"  /><Relationship Id="rId5" Type="http://schemas.openxmlformats.org/officeDocument/2006/relationships/viewProps" Target="viewProps.xml"  /><Relationship Id="rId6" Type="http://schemas.openxmlformats.org/officeDocument/2006/relationships/theme" Target="theme/theme1.xml"  /><Relationship Id="rId7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가로 글상자 3"/>
          <p:cNvSpPr txBox="1"/>
          <p:nvPr/>
        </p:nvSpPr>
        <p:spPr>
          <a:xfrm>
            <a:off x="0" y="1199744"/>
            <a:ext cx="12191999" cy="696460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4000"/>
              <a:t>프로젝트명</a:t>
            </a:r>
            <a:endParaRPr lang="ko-KR" altLang="en-US" sz="4000"/>
          </a:p>
        </p:txBody>
      </p:sp>
      <p:sp>
        <p:nvSpPr>
          <p:cNvPr id="5" name="가로 글상자 4"/>
          <p:cNvSpPr txBox="1"/>
          <p:nvPr/>
        </p:nvSpPr>
        <p:spPr>
          <a:xfrm>
            <a:off x="-1" y="2007667"/>
            <a:ext cx="12192001" cy="515890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2800"/>
              <a:t>화면정의서</a:t>
            </a:r>
            <a:endParaRPr lang="ko-KR" altLang="en-US" sz="2800"/>
          </a:p>
        </p:txBody>
      </p:sp>
      <p:sp>
        <p:nvSpPr>
          <p:cNvPr id="6" name="가로 글상자 5"/>
          <p:cNvSpPr txBox="1"/>
          <p:nvPr/>
        </p:nvSpPr>
        <p:spPr>
          <a:xfrm>
            <a:off x="1" y="2835815"/>
            <a:ext cx="12191999" cy="362680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/>
              <a:t>프로젝트 내용 요약</a:t>
            </a:r>
            <a:endParaRPr lang="ko-KR" altLang="en-US"/>
          </a:p>
        </p:txBody>
      </p:sp>
      <p:sp>
        <p:nvSpPr>
          <p:cNvPr id="7" name="가로 글상자 6"/>
          <p:cNvSpPr txBox="1"/>
          <p:nvPr/>
        </p:nvSpPr>
        <p:spPr>
          <a:xfrm>
            <a:off x="0" y="5313733"/>
            <a:ext cx="12192000" cy="361262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/>
              <a:t>작성일</a:t>
            </a:r>
            <a:r>
              <a:rPr lang="en-US" altLang="ko-KR"/>
              <a:t>: 2000</a:t>
            </a:r>
            <a:r>
              <a:rPr lang="ko-KR" altLang="en-US"/>
              <a:t>년 </a:t>
            </a:r>
            <a:r>
              <a:rPr lang="en-US" altLang="ko-KR"/>
              <a:t>00</a:t>
            </a:r>
            <a:r>
              <a:rPr lang="ko-KR" altLang="en-US"/>
              <a:t>월 </a:t>
            </a:r>
            <a:r>
              <a:rPr lang="en-US" altLang="ko-KR"/>
              <a:t>00</a:t>
            </a:r>
            <a:r>
              <a:rPr lang="ko-KR" altLang="en-US"/>
              <a:t>일</a:t>
            </a:r>
            <a:endParaRPr lang="ko-KR" altLang="en-US"/>
          </a:p>
        </p:txBody>
      </p:sp>
      <p:pic>
        <p:nvPicPr>
          <p:cNvPr id="9" name="Image 11" descr="preencoded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23551" y="4053597"/>
            <a:ext cx="468143" cy="499353"/>
          </a:xfrm>
          <a:prstGeom prst="rect">
            <a:avLst/>
          </a:prstGeom>
        </p:spPr>
      </p:pic>
      <p:pic>
        <p:nvPicPr>
          <p:cNvPr id="10" name="Image 12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524500" y="4053597"/>
            <a:ext cx="468143" cy="499353"/>
          </a:xfrm>
          <a:prstGeom prst="rect">
            <a:avLst/>
          </a:prstGeom>
        </p:spPr>
      </p:pic>
      <p:pic>
        <p:nvPicPr>
          <p:cNvPr id="11" name="Image 13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474757" y="4053597"/>
            <a:ext cx="374514" cy="499353"/>
          </a:xfrm>
          <a:prstGeom prst="rect">
            <a:avLst/>
          </a:prstGeom>
        </p:spPr>
      </p:pic>
      <p:pic>
        <p:nvPicPr>
          <p:cNvPr id="12" name="Image 14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372568" y="4053597"/>
            <a:ext cx="421329" cy="499353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3756674" y="4507554"/>
            <a:ext cx="2001897" cy="312095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0" lvl="0" indent="0" algn="ctr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4b5563"/>
                </a:solidFill>
                <a:latin typeface="ui-sans-serif"/>
                <a:ea typeface="ui-sans-serif"/>
                <a:cs typeface="ui-sans-serif"/>
              </a:rPr>
              <a:t>동네 친구</a:t>
            </a:r>
            <a:endParaRPr lang="en-US" sz="1050"/>
          </a:p>
        </p:txBody>
      </p:sp>
      <p:sp>
        <p:nvSpPr>
          <p:cNvPr id="14" name="Text 4"/>
          <p:cNvSpPr/>
          <p:nvPr/>
        </p:nvSpPr>
        <p:spPr>
          <a:xfrm>
            <a:off x="5186642" y="4507554"/>
            <a:ext cx="1048641" cy="312095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0" lvl="0" indent="0" algn="ctr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4b5563"/>
                </a:solidFill>
                <a:latin typeface="ui-sans-serif"/>
                <a:ea typeface="ui-sans-serif"/>
                <a:cs typeface="ui-sans-serif"/>
              </a:rPr>
              <a:t>소통하기</a:t>
            </a:r>
            <a:endParaRPr lang="en-US" sz="1050"/>
          </a:p>
        </p:txBody>
      </p:sp>
      <p:sp>
        <p:nvSpPr>
          <p:cNvPr id="15" name="Text 5"/>
          <p:cNvSpPr/>
          <p:nvPr/>
        </p:nvSpPr>
        <p:spPr>
          <a:xfrm>
            <a:off x="6096000" y="4507554"/>
            <a:ext cx="1132029" cy="312095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0" lvl="0" indent="0" algn="ctr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4b5563"/>
                </a:solidFill>
                <a:latin typeface="ui-sans-serif"/>
                <a:ea typeface="ui-sans-serif"/>
                <a:cs typeface="ui-sans-serif"/>
              </a:rPr>
              <a:t>정보 교환</a:t>
            </a:r>
            <a:endParaRPr lang="en-US" sz="1050"/>
          </a:p>
        </p:txBody>
      </p:sp>
      <p:sp>
        <p:nvSpPr>
          <p:cNvPr id="16" name="Text 6"/>
          <p:cNvSpPr/>
          <p:nvPr/>
        </p:nvSpPr>
        <p:spPr>
          <a:xfrm>
            <a:off x="7017218" y="4507554"/>
            <a:ext cx="1132029" cy="312095"/>
          </a:xfrm>
          <a:prstGeom prst="rect">
            <a:avLst/>
          </a:prstGeom>
          <a:noFill/>
          <a:ln/>
        </p:spPr>
        <p:txBody>
          <a:bodyPr vert="horz" wrap="square" lIns="0" tIns="0" rIns="0" bIns="0" anchor="t"/>
          <a:lstStyle/>
          <a:p>
            <a:pPr marL="0" lvl="0" indent="0" algn="ctr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4b5563"/>
                </a:solidFill>
                <a:latin typeface="ui-sans-serif"/>
                <a:ea typeface="ui-sans-serif"/>
                <a:cs typeface="ui-sans-serif"/>
              </a:rPr>
              <a:t>동네 활동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456582629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가로 글상자 3"/>
          <p:cNvSpPr txBox="1"/>
          <p:nvPr/>
        </p:nvSpPr>
        <p:spPr>
          <a:xfrm>
            <a:off x="372018" y="334386"/>
            <a:ext cx="11138172" cy="498463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700"/>
              <a:t>로그인 페이지 화면</a:t>
            </a:r>
            <a:endParaRPr lang="en-US" altLang="ko-KR" sz="270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72018" y="1336690"/>
            <a:ext cx="5287112" cy="5096586"/>
          </a:xfrm>
          <a:prstGeom prst="rect">
            <a:avLst/>
          </a:prstGeom>
          <a:ln>
            <a:solidFill>
              <a:schemeClr val="dk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6096001" y="1336691"/>
          <a:ext cx="5414190" cy="5096586"/>
        </p:xfrm>
        <a:graphic>
          <a:graphicData uri="http://schemas.openxmlformats.org/drawingml/2006/table">
            <a:tbl>
              <a:tblPr firstRow="1" bandRow="1">
                <a:tableStyleId>{F77BBAD0-2FD1-4BB3-BED5-B7D4590D3504}</a:tableStyleId>
              </a:tblPr>
              <a:tblGrid>
                <a:gridCol w="1191902"/>
                <a:gridCol w="4222287"/>
              </a:tblGrid>
              <a:tr h="81169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/>
                        <a:t>구분</a:t>
                      </a:r>
                      <a:endParaRPr lang="ko-KR" altLang="en-US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/>
                        <a:t>내용</a:t>
                      </a:r>
                      <a:endParaRPr lang="ko-KR" altLang="en-US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834611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r">
                        <a:defRPr/>
                      </a:pPr>
                      <a:r>
                        <a:rPr lang="ko-KR" altLang="en-US" sz="1200">
                          <a:latin typeface="맑은 고딕"/>
                        </a:rPr>
                        <a:t>화면 </a:t>
                      </a:r>
                      <a:r>
                        <a:rPr lang="en-US" altLang="ko-KR" sz="1200">
                          <a:latin typeface="맑은 고딕"/>
                        </a:rPr>
                        <a:t>ID</a:t>
                      </a:r>
                      <a:endParaRPr lang="en-US" altLang="ko-KR" sz="1200">
                        <a:latin typeface="맑은 고딕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SCR-001</a:t>
                      </a:r>
                      <a:endParaRPr lang="en-US" altLang="ko-KR" sz="1200">
                        <a:latin typeface="맑은 고딕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795331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r">
                        <a:defRPr/>
                      </a:pPr>
                      <a:r>
                        <a:rPr lang="ko-KR" altLang="en-US" sz="1200">
                          <a:latin typeface="맑은 고딕"/>
                        </a:rPr>
                        <a:t>화면명</a:t>
                      </a:r>
                      <a:endParaRPr lang="ko-KR" altLang="en-US" sz="1200">
                        <a:latin typeface="맑은 고딕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1200">
                          <a:latin typeface="맑은 고딕"/>
                        </a:rPr>
                        <a:t>로그인 페이지</a:t>
                      </a:r>
                      <a:endParaRPr lang="ko-KR" altLang="en-US" sz="1200">
                        <a:latin typeface="맑은 고딕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1370993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r">
                        <a:defRPr/>
                      </a:pPr>
                      <a:r>
                        <a:rPr lang="ko-KR" altLang="en-US" sz="1200">
                          <a:latin typeface="맑은 고딕"/>
                        </a:rPr>
                        <a:t>기능 설명</a:t>
                      </a:r>
                      <a:endParaRPr lang="ko-KR" altLang="en-US" sz="1200">
                        <a:latin typeface="맑은 고딕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1.</a:t>
                      </a:r>
                      <a:r>
                        <a:rPr lang="ko-KR" altLang="en-US" sz="1200">
                          <a:latin typeface="맑은 고딕"/>
                        </a:rPr>
                        <a:t> 아이디/비밀번호 입력 후 로그인 수행</a:t>
                      </a:r>
                      <a:endParaRPr lang="ko-KR" altLang="en-US" sz="1200">
                        <a:latin typeface="맑은 고딕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2.</a:t>
                      </a:r>
                      <a:r>
                        <a:rPr lang="ko-KR" altLang="en-US" sz="1200">
                          <a:latin typeface="맑은 고딕"/>
                        </a:rPr>
                        <a:t> 회원가입 및 계정 찾기 페이지 이동</a:t>
                      </a:r>
                      <a:endParaRPr lang="ko-KR" altLang="en-US" sz="1200">
                        <a:latin typeface="맑은 고딕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1283953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r">
                        <a:defRPr/>
                      </a:pPr>
                      <a:r>
                        <a:rPr lang="ko-KR" altLang="en-US" sz="1200">
                          <a:latin typeface="맑은 고딕"/>
                        </a:rPr>
                        <a:t>비고</a:t>
                      </a:r>
                      <a:r>
                        <a:rPr lang="en-US" altLang="ko-KR" sz="1200">
                          <a:latin typeface="맑은 고딕"/>
                        </a:rPr>
                        <a:t>/</a:t>
                      </a:r>
                      <a:r>
                        <a:rPr lang="ko-KR" altLang="en-US" sz="1200">
                          <a:latin typeface="맑은 고딕"/>
                        </a:rPr>
                        <a:t>예외</a:t>
                      </a:r>
                      <a:endParaRPr lang="ko-KR" altLang="en-US" sz="1200">
                        <a:latin typeface="맑은 고딕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1.</a:t>
                      </a:r>
                      <a:r>
                        <a:rPr lang="ko-KR" altLang="en-US" sz="1200">
                          <a:latin typeface="맑은 고딕"/>
                        </a:rPr>
                        <a:t> </a:t>
                      </a:r>
                      <a:r>
                        <a:rPr lang="en-US" altLang="ko-KR" sz="1200">
                          <a:latin typeface="맑은 고딕"/>
                        </a:rPr>
                        <a:t>아이디 5회 오류 시 30분간 잠금</a:t>
                      </a:r>
                      <a:endParaRPr lang="en-US" altLang="ko-KR" sz="1200">
                        <a:latin typeface="맑은 고딕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2.</a:t>
                      </a:r>
                      <a:r>
                        <a:rPr lang="ko-KR" altLang="en-US" sz="1200">
                          <a:latin typeface="맑은 고딕"/>
                        </a:rPr>
                        <a:t> 미입력 시 '정보를 입력하세요' 토스트 메시지 노출</a:t>
                      </a:r>
                      <a:endParaRPr lang="ko-KR" altLang="en-US" sz="1200">
                        <a:latin typeface="맑은 고딕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6232164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19</ep:Words>
  <ep:PresentationFormat>화면 슬라이드 쇼(4:3)</ep:PresentationFormat>
  <ep:Paragraphs>9</ep:Paragraphs>
  <ep:Slides>2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ep:HeadingPairs>
  <ep:TitlesOfParts>
    <vt:vector size="3" baseType="lpstr">
      <vt:lpstr>한컴오피스</vt:lpstr>
      <vt:lpstr>슬라이드 1</vt:lpstr>
      <vt:lpstr>슬라이드 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2026-01-04T03:14:02.799</dcterms:created>
  <dc:creator>wjdgk</dc:creator>
  <cp:lastModifiedBy>wjdgk</cp:lastModifiedBy>
  <dcterms:modified xsi:type="dcterms:W3CDTF">2026-01-04T03:40:22.342</dcterms:modified>
  <cp:revision>11</cp:revision>
  <cp:version>12.0.0.4426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